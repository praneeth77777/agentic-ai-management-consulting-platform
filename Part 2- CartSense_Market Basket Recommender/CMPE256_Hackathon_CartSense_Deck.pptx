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CMPE 256 • Recommender Systems Hackathon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137160"/>
            <a:ext cx="3474720" cy="3474720"/>
          </a:xfrm>
          <a:prstGeom prst="ellipse">
            <a:avLst/>
          </a:prstGeom>
          <a:solidFill>
            <a:srgbClr val="1D4ED8">
              <a:alpha val="6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3657600"/>
            <a:ext cx="2560320" cy="2560320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CartSense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02996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0D5DD"/>
                </a:solidFill>
              </a:rPr>
              <a:t>Evidence-aware market-basket recommendations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ADFF"/>
                </a:solidFill>
              </a:rPr>
              <a:t>CMPE 256 Recommender Systems Hackathon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27355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F0"/>
                </a:solidFill>
              </a:rPr>
              <a:t>Association rules • dynamic cart context • FastAPI demo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40690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D2939"/>
          </a:solidFill>
          <a:ln w="12700">
            <a:solidFill>
              <a:srgbClr val="1D29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4123944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D5DD"/>
                </a:solidFill>
              </a:rPr>
              <a:t>1,000 baskets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40690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D2939"/>
          </a:solidFill>
          <a:ln w="12700">
            <a:solidFill>
              <a:srgbClr val="1D29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4123944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D5DD"/>
                </a:solidFill>
              </a:rPr>
              <a:t>40 products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84448" y="4069080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1D2939"/>
          </a:solidFill>
          <a:ln w="12700">
            <a:solidFill>
              <a:srgbClr val="1D29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4123944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0D5DD"/>
                </a:solidFill>
              </a:rPr>
              <a:t>211 learned rules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" y="48006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Goal: recommend the next relevant product without forcing weak suggestions.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The challenge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Recommendations must react to the current cart — and know when not to recommend.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6537960" cy="1069848"/>
          </a:xfrm>
          <a:prstGeom prst="roundRect">
            <a:avLst>
              <a:gd name="adj" fmla="val 1367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719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E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2768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</a:rPr>
              <a:t>Dynamic cart updates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72768" y="200253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Recompute the ranking whenever products are added or removed.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926080"/>
            <a:ext cx="6537960" cy="1069848"/>
          </a:xfrm>
          <a:prstGeom prst="roundRect">
            <a:avLst>
              <a:gd name="adj" fmla="val 1367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31363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EF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2768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</a:rPr>
              <a:t>Combination awareness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72768" y="341985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Use evidence from the actual cart combination, not an unrelated single-item fallback.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6537960" cy="1069848"/>
          </a:xfrm>
          <a:prstGeom prst="roundRect">
            <a:avLst>
              <a:gd name="adj" fmla="val 1367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45537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EF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2768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12F"/>
                </a:solidFill>
              </a:rPr>
              <a:t>Relevance guardrail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72768" y="483717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Return no recommendation when historical support is too weak.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35240" y="1508760"/>
            <a:ext cx="3749040" cy="3904488"/>
          </a:xfrm>
          <a:prstGeom prst="roundRect">
            <a:avLst>
              <a:gd name="adj" fmla="val 3902"/>
            </a:avLst>
          </a:prstGeom>
          <a:solidFill>
            <a:srgbClr val="101828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01000" y="18745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ADFF"/>
                </a:solidFill>
              </a:rPr>
              <a:t>Design principle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01000" y="23317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“Selective beats noisy.”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001000" y="3401568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5DD"/>
                </a:solidFill>
              </a:rPr>
              <a:t>The model is intentionally conservative: it only emits suggestions when a mined rule has enough support, confidence and lift.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828032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D2939"/>
          </a:solidFill>
          <a:ln w="12700">
            <a:solidFill>
              <a:srgbClr val="1D29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4152" y="4882896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CCFF"/>
                </a:solidFill>
              </a:rPr>
              <a:t>28.3% recommendation availability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Solution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One trained rule model serves both the API and the checkout demo.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01168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237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12F"/>
                </a:solidFill>
              </a:rPr>
              <a:t>Transactions CSV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9077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1,000 baskets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71800" y="2240280"/>
            <a:ext cx="2103120" cy="1325880"/>
          </a:xfrm>
          <a:prstGeom prst="roundRect">
            <a:avLst>
              <a:gd name="adj" fmla="val 11034"/>
            </a:avLst>
          </a:prstGeom>
          <a:solidFill>
            <a:srgbClr val="EFF4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2523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12F"/>
                </a:solidFill>
              </a:rPr>
              <a:t>Rule miner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0" y="2907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support • confidence • lift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0" y="2240280"/>
            <a:ext cx="2194560" cy="1325880"/>
          </a:xfrm>
          <a:prstGeom prst="roundRect">
            <a:avLst>
              <a:gd name="adj" fmla="val 11034"/>
            </a:avLst>
          </a:prstGeom>
          <a:solidFill>
            <a:srgbClr val="EFF4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23560" y="2523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12F"/>
                </a:solidFill>
              </a:rPr>
              <a:t>Cart-aware ranker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23560" y="2907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evidence + specificity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2240280"/>
            <a:ext cx="164592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523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12F"/>
                </a:solidFill>
              </a:rPr>
              <a:t>FastAPI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907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/recommend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149840" y="2240280"/>
            <a:ext cx="141732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87000" y="25237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12F"/>
                </a:solidFill>
              </a:rPr>
              <a:t>Demo UI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87000" y="29077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live cart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11196" y="2752344"/>
            <a:ext cx="201168" cy="25603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0076" y="2752344"/>
            <a:ext cx="201168" cy="25603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31836" y="2752344"/>
            <a:ext cx="201168" cy="25603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89236" y="2752344"/>
            <a:ext cx="201168" cy="256032"/>
          </a:xfrm>
          <a:prstGeom prst="chevron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4343400"/>
            <a:ext cx="9966960" cy="1115568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0" y="45902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5EEF"/>
                </a:solidFill>
              </a:rPr>
              <a:t>Multi-item rule guardrail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0" y="4507992"/>
            <a:ext cx="6812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</a:rPr>
              <a:t>For carts with 2+ items, a recommendation must be supported by a rule whose antecedent contains at least two items already in the cart.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57600" y="499262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708"/>
                </a:solidFill>
              </a:rPr>
              <a:t>No matching combination → no recommendation.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How ranking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Every candidate must pass evidence thresholds before it can be scored.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Signal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80360" y="13533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What it measures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20840" y="1353312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</a:rPr>
              <a:t>How we use 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313432"/>
            <a:ext cx="108813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37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Support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How often the itemset occurs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20840" y="17373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F"/>
                </a:solidFill>
              </a:rPr>
              <a:t>Reject rules below 0.8% support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72384"/>
            <a:ext cx="108813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96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Confidence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496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P(next item | cart context)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20840" y="249631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F"/>
                </a:solidFill>
              </a:rPr>
              <a:t>Reject rules below 10% confidence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31336"/>
            <a:ext cx="108813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552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Lift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32552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Strength beyond item popularity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20840" y="32552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F"/>
                </a:solidFill>
              </a:rPr>
              <a:t>Reject rules below 1.2× lift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90288"/>
            <a:ext cx="108813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0142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Evidence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80360" y="4014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Absolute basket count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20840" y="40142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F"/>
                </a:solidFill>
              </a:rPr>
              <a:t>Shrink scores built on tiny samples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88136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773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Specificity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80360" y="4773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How much cart context matches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20840" y="47731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F"/>
                </a:solidFill>
              </a:rPr>
              <a:t>Prefer the most specific matching antecedent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" y="571500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769864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5EEF"/>
                </a:solidFill>
              </a:rPr>
              <a:t>Validation-selected thresholds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816352" y="574243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min_support = 0.008   •   min_confidence = 0.10   •   min_lift = 1.20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Live demo experience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One process serves both the recommender API and a checkout-style front end.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0972800" cy="4709160"/>
          </a:xfrm>
          <a:prstGeom prst="roundRect">
            <a:avLst>
              <a:gd name="adj" fmla="val 310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61872"/>
            <a:ext cx="10972800" cy="457200"/>
          </a:xfrm>
          <a:prstGeom prst="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081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CartSense / CMPE 256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29800" y="136245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D2939"/>
          </a:solidFill>
          <a:ln w="12700">
            <a:solidFill>
              <a:srgbClr val="1D29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2952" y="141732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6EFAC"/>
                </a:solidFill>
              </a:rPr>
              <a:t>MODEL ONLINE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F"/>
                </a:solidFill>
              </a:rPr>
              <a:t>Build a cart. Watch recommendations adapt.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Search products and add them to the cart.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226771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33272" y="3044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</a:rPr>
              <a:t>Honeywell 5800CO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31720" y="33832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343814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5EEF"/>
                </a:solidFill>
              </a:rPr>
              <a:t>+ Add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29000" y="2880360"/>
            <a:ext cx="226771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47872" y="3044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</a:rPr>
              <a:t>DSC WS4916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3832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43814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5EEF"/>
                </a:solidFill>
              </a:rPr>
              <a:t>+ Add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3995928"/>
            <a:ext cx="226771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33272" y="4160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</a:rPr>
              <a:t>Axis P3367-VE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31720" y="4498848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04872" y="45537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5EEF"/>
                </a:solidFill>
              </a:rPr>
              <a:t>+ Add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29000" y="3995928"/>
            <a:ext cx="226771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47872" y="4160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12F"/>
                </a:solidFill>
              </a:rPr>
              <a:t>Bosch NVR-5500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4498848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45537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5EEF"/>
                </a:solidFill>
              </a:rPr>
              <a:t>+ Add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1965960"/>
            <a:ext cx="0" cy="352044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F"/>
                </a:solidFill>
              </a:rPr>
              <a:t>Your cart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2395728"/>
            <a:ext cx="4572000" cy="594360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65392" y="2596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212F"/>
                </a:solidFill>
              </a:rPr>
              <a:t>Honeywell 5800CO Carbon Monoxide Detector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F"/>
                </a:solidFill>
              </a:rPr>
              <a:t>Recommended next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3621024"/>
            <a:ext cx="457200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65392" y="3822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12F"/>
                </a:solidFill>
              </a:rPr>
              <a:t>1  DSC WS4916 Smoke Detector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65392" y="425196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 w="12700">
            <a:solidFill>
              <a:srgbClr val="EFF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38544" y="4306824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5EEF"/>
                </a:solidFill>
              </a:rPr>
              <a:t>19.7% confidence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36992" y="42519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10144" y="4306824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8A5B"/>
                </a:solidFill>
              </a:rPr>
              <a:t>2.17× lift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988552" y="42519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61704" y="4306824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467"/>
                </a:solidFill>
              </a:rPr>
              <a:t>13 baskets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0" y="527608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Recommendations refresh after every add/remove action.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Held-out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system trades breadth for evidence quality instead of recommending everywhere.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508760"/>
            <a:ext cx="33375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7465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</a:rPr>
              <a:t>7.84%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41832" y="22311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Hit rate@5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62272" y="1508760"/>
            <a:ext cx="33375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17465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</a:rPr>
              <a:t>1.95%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690872" y="22311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Precision@5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11312" y="1508760"/>
            <a:ext cx="33375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39912" y="17465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</a:rPr>
              <a:t>2.97%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439912" y="22311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Recall@5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3081528"/>
            <a:ext cx="33375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" y="3319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5EEF"/>
                </a:solidFill>
              </a:rPr>
              <a:t>28.3%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41832" y="3803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Availability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62272" y="3081528"/>
            <a:ext cx="33375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90872" y="3319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</a:rPr>
              <a:t>100%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690872" y="3803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Catalog coverage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11312" y="3081528"/>
            <a:ext cx="333756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39912" y="33192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F"/>
                </a:solidFill>
              </a:rPr>
              <a:t>211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439912" y="3803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Rules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" y="4800600"/>
            <a:ext cx="10835640" cy="868680"/>
          </a:xfrm>
          <a:prstGeom prst="roundRect">
            <a:avLst>
              <a:gd name="adj" fmla="val 16842"/>
            </a:avLst>
          </a:prstGeom>
          <a:solidFill>
            <a:srgbClr val="FFFAEB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50840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708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57400" y="50109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2E0E"/>
                </a:solidFill>
              </a:rPr>
              <a:t>The supplied catalog has weak pairwise structure. Conservative availability is intentional and directly supports the “avoid irrelevant recommendations” requirement.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12F"/>
                </a:solidFill>
              </a:rPr>
              <a:t>Demo script &amp; handoff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simple 90-second walkthrough shows the core requirement end to end.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84048" cy="384048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418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89888" y="143560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Start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1435608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uvicorn app:app --reload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203704"/>
            <a:ext cx="384048" cy="384048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905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89888" y="22219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Open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2221992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http://127.0.0.1:8000/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2990088"/>
            <a:ext cx="384048" cy="384048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769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89888" y="300837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Add one item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300837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Show ranked recommendations + confidence/lift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776472"/>
            <a:ext cx="384048" cy="384048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633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89888" y="379476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Add another item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63240" y="379476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Show recommendations recompute from multi-item context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4562856"/>
            <a:ext cx="384048" cy="384048"/>
          </a:xfrm>
          <a:prstGeom prst="ellipse">
            <a:avLst/>
          </a:prstGeom>
          <a:solidFill>
            <a:srgbClr val="155EEF"/>
          </a:solidFill>
          <a:ln w="12700">
            <a:solidFill>
              <a:srgbClr val="155E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6497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89888" y="458114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F"/>
                </a:solidFill>
              </a:rPr>
              <a:t>Try a weak combo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63240" y="4581144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Show “No strong pattern found” instead of noise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80960" y="5303520"/>
            <a:ext cx="3749040" cy="658368"/>
          </a:xfrm>
          <a:prstGeom prst="roundRect">
            <a:avLst>
              <a:gd name="adj" fmla="val 22222"/>
            </a:avLst>
          </a:prstGeom>
          <a:solidFill>
            <a:srgbClr val="EFF4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27848" y="550468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5EEF"/>
                </a:solidFill>
              </a:rPr>
              <a:t>Submission package: code + model + API + UI + deck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CMPE 256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CartSense — CMPE 256 Hackathon</dc:title>
  <dc:subject>CMPE 256 Hackathon Market Basket Recommender</dc:subject>
  <dc:creator>OpenAI</dc:creator>
  <cp:lastModifiedBy>OpenAI</cp:lastModifiedBy>
  <cp:revision>1</cp:revision>
  <dcterms:created xsi:type="dcterms:W3CDTF">2026-10-17T23:13:42Z</dcterms:created>
  <dcterms:modified xsi:type="dcterms:W3CDTF">2026-10-17T23:13:42Z</dcterms:modified>
</cp:coreProperties>
</file>